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78" r:id="rId8"/>
    <p:sldId id="279" r:id="rId9"/>
    <p:sldId id="280" r:id="rId10"/>
    <p:sldId id="281" r:id="rId11"/>
    <p:sldId id="289" r:id="rId12"/>
    <p:sldId id="290" r:id="rId13"/>
    <p:sldId id="282" r:id="rId14"/>
    <p:sldId id="287" r:id="rId15"/>
    <p:sldId id="288" r:id="rId16"/>
    <p:sldId id="286" r:id="rId17"/>
    <p:sldId id="266" r:id="rId18"/>
    <p:sldId id="28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8721" y="1653390"/>
            <a:ext cx="4378959" cy="2542690"/>
          </a:xfrm>
        </p:spPr>
        <p:txBody>
          <a:bodyPr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05A57-7CB3-29FA-F709-CD28DE953944}"/>
              </a:ext>
            </a:extLst>
          </p:cNvPr>
          <p:cNvSpPr txBox="1"/>
          <p:nvPr/>
        </p:nvSpPr>
        <p:spPr>
          <a:xfrm>
            <a:off x="7729220" y="3549749"/>
            <a:ext cx="3997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Văn Giáp – B22DCCN252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1510" y="1371600"/>
            <a:ext cx="2945130" cy="108053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673350"/>
            <a:ext cx="4429125" cy="32702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Cài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Canny, Sobel, Laplacian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758" y="687871"/>
            <a:ext cx="5017522" cy="6826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AE67A-F1DC-A135-072A-CD8BDF400418}"/>
              </a:ext>
            </a:extLst>
          </p:cNvPr>
          <p:cNvSpPr txBox="1"/>
          <p:nvPr/>
        </p:nvSpPr>
        <p:spPr>
          <a:xfrm>
            <a:off x="2341913" y="2228671"/>
            <a:ext cx="21233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4BE62-CE25-749C-4584-C232B7789D36}"/>
              </a:ext>
            </a:extLst>
          </p:cNvPr>
          <p:cNvSpPr txBox="1"/>
          <p:nvPr/>
        </p:nvSpPr>
        <p:spPr>
          <a:xfrm>
            <a:off x="4871753" y="2228671"/>
            <a:ext cx="21233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7ECADA-934D-681D-6CB9-5C1F76AE2B00}"/>
              </a:ext>
            </a:extLst>
          </p:cNvPr>
          <p:cNvSpPr txBox="1"/>
          <p:nvPr/>
        </p:nvSpPr>
        <p:spPr>
          <a:xfrm>
            <a:off x="7401595" y="2232302"/>
            <a:ext cx="21233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D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697818"/>
            <a:ext cx="4179570" cy="21473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 txBox="1">
            <a:spLocks/>
          </p:cNvSpPr>
          <p:nvPr/>
        </p:nvSpPr>
        <p:spPr>
          <a:xfrm>
            <a:off x="-132080" y="3028030"/>
            <a:ext cx="5537200" cy="34070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grayscale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mịn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gaussian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Laplacian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taking a selfie&#10;&#10;AI-generated content may be incorrect.">
            <a:extLst>
              <a:ext uri="{FF2B5EF4-FFF2-40B4-BE49-F238E27FC236}">
                <a16:creationId xmlns:a16="http://schemas.microsoft.com/office/drawing/2014/main" id="{07A47639-BAE8-A9F0-9773-7C9B9B248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949" y="223520"/>
            <a:ext cx="1837214" cy="2969234"/>
          </a:xfrm>
          <a:prstGeom prst="rect">
            <a:avLst/>
          </a:prstGeom>
        </p:spPr>
      </p:pic>
      <p:pic>
        <p:nvPicPr>
          <p:cNvPr id="12" name="Picture 11" descr="A person taking a selfie&#10;&#10;AI-generated content may be incorrect.">
            <a:extLst>
              <a:ext uri="{FF2B5EF4-FFF2-40B4-BE49-F238E27FC236}">
                <a16:creationId xmlns:a16="http://schemas.microsoft.com/office/drawing/2014/main" id="{E6E83150-D903-C7C5-42D6-706AB05A1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033" y="223520"/>
            <a:ext cx="1837214" cy="2969234"/>
          </a:xfrm>
          <a:prstGeom prst="rect">
            <a:avLst/>
          </a:prstGeom>
        </p:spPr>
      </p:pic>
      <p:pic>
        <p:nvPicPr>
          <p:cNvPr id="17" name="Picture 16" descr="A person wearing glasses and a black shirt&#10;&#10;AI-generated content may be incorrect.">
            <a:extLst>
              <a:ext uri="{FF2B5EF4-FFF2-40B4-BE49-F238E27FC236}">
                <a16:creationId xmlns:a16="http://schemas.microsoft.com/office/drawing/2014/main" id="{8F46E2FB-BF05-2CB8-B794-59B295880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237" y="223520"/>
            <a:ext cx="1837214" cy="2969234"/>
          </a:xfrm>
          <a:prstGeom prst="rect">
            <a:avLst/>
          </a:prstGeom>
        </p:spPr>
      </p:pic>
      <p:pic>
        <p:nvPicPr>
          <p:cNvPr id="25" name="Picture 24" descr="A person with glasses&#10;&#10;AI-generated content may be incorrect.">
            <a:extLst>
              <a:ext uri="{FF2B5EF4-FFF2-40B4-BE49-F238E27FC236}">
                <a16:creationId xmlns:a16="http://schemas.microsoft.com/office/drawing/2014/main" id="{65DB2F3F-617D-827F-A970-27738D964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237" y="3562086"/>
            <a:ext cx="1837214" cy="2969234"/>
          </a:xfrm>
          <a:prstGeom prst="rect">
            <a:avLst/>
          </a:prstGeom>
        </p:spPr>
      </p:pic>
      <p:pic>
        <p:nvPicPr>
          <p:cNvPr id="27" name="Picture 26" descr="A person wearing glasses&#10;&#10;AI-generated content may be incorrect.">
            <a:extLst>
              <a:ext uri="{FF2B5EF4-FFF2-40B4-BE49-F238E27FC236}">
                <a16:creationId xmlns:a16="http://schemas.microsoft.com/office/drawing/2014/main" id="{579DC9B1-3DAD-DFC5-FBF5-0695E679C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033" y="3562086"/>
            <a:ext cx="1837214" cy="2969234"/>
          </a:xfrm>
          <a:prstGeom prst="rect">
            <a:avLst/>
          </a:prstGeom>
        </p:spPr>
      </p:pic>
      <p:pic>
        <p:nvPicPr>
          <p:cNvPr id="29" name="Picture 28" descr="A person with glasses&#10;&#10;AI-generated content may be incorrect.">
            <a:extLst>
              <a:ext uri="{FF2B5EF4-FFF2-40B4-BE49-F238E27FC236}">
                <a16:creationId xmlns:a16="http://schemas.microsoft.com/office/drawing/2014/main" id="{A80D27B1-D2A1-F9C8-9E42-4640EAA72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0949" y="3562086"/>
            <a:ext cx="1837214" cy="296923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3BB110-86E0-38E0-7F42-28539B7F4ADD}"/>
              </a:ext>
            </a:extLst>
          </p:cNvPr>
          <p:cNvSpPr txBox="1"/>
          <p:nvPr/>
        </p:nvSpPr>
        <p:spPr>
          <a:xfrm>
            <a:off x="2357120" y="3192754"/>
            <a:ext cx="113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ID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D2EC3F-A09F-EE57-3575-872FFB283314}"/>
              </a:ext>
            </a:extLst>
          </p:cNvPr>
          <p:cNvSpPr txBox="1"/>
          <p:nvPr/>
        </p:nvSpPr>
        <p:spPr>
          <a:xfrm>
            <a:off x="5455562" y="3192754"/>
            <a:ext cx="1487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ID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1FA22-4D1B-B0BF-C1B4-DE2743B7BA7C}"/>
              </a:ext>
            </a:extLst>
          </p:cNvPr>
          <p:cNvSpPr txBox="1"/>
          <p:nvPr/>
        </p:nvSpPr>
        <p:spPr>
          <a:xfrm>
            <a:off x="8760383" y="3192754"/>
            <a:ext cx="168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mịn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ID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5A0C94-96C2-242C-53B1-81847A59A695}"/>
              </a:ext>
            </a:extLst>
          </p:cNvPr>
          <p:cNvSpPr txBox="1"/>
          <p:nvPr/>
        </p:nvSpPr>
        <p:spPr>
          <a:xfrm>
            <a:off x="2250596" y="6449814"/>
            <a:ext cx="113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Laplacian</a:t>
            </a:r>
            <a:endParaRPr lang="en-ID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5F5708-4EE7-E6F9-199A-7AFC7BCE152D}"/>
              </a:ext>
            </a:extLst>
          </p:cNvPr>
          <p:cNvSpPr txBox="1"/>
          <p:nvPr/>
        </p:nvSpPr>
        <p:spPr>
          <a:xfrm>
            <a:off x="5917327" y="6488668"/>
            <a:ext cx="113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endParaRPr lang="en-ID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20CCD4-D4D5-63D2-EBD1-66771FBE5C5B}"/>
              </a:ext>
            </a:extLst>
          </p:cNvPr>
          <p:cNvSpPr txBox="1"/>
          <p:nvPr/>
        </p:nvSpPr>
        <p:spPr>
          <a:xfrm>
            <a:off x="8955884" y="6531320"/>
            <a:ext cx="113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290" y="1645919"/>
            <a:ext cx="2979420" cy="89694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AC39B9A-6646-15D5-727F-43BCBBD5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320" y="558799"/>
            <a:ext cx="4612640" cy="75470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80068-7F4B-9216-7CF7-0DC1B29E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70" y="1698962"/>
            <a:ext cx="5322900" cy="4691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24B50-EEBE-A772-8DFA-B7632D0DA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770" y="1698962"/>
            <a:ext cx="5710390" cy="46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EF24-3EE3-0A23-EE5F-CDF22BD4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0" y="670559"/>
            <a:ext cx="8420100" cy="642941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28D25F-8240-A7C1-3F10-42A9C1A1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92" y="2185588"/>
            <a:ext cx="4963048" cy="4232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19EA9-D143-71C0-9E90-EE3AEFDEB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440" y="2185588"/>
            <a:ext cx="5394960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2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7B36-F5F4-EE4A-0804-B78D042B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60" y="995679"/>
            <a:ext cx="8420100" cy="500701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02C4E7-EE21-CC7A-16B3-843CE1218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080" y="1496380"/>
            <a:ext cx="7221119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89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398" y="690880"/>
            <a:ext cx="7793302" cy="911546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289D9B-E729-9F68-F521-8C9C9FFCD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39" y="2053892"/>
            <a:ext cx="4785110" cy="41132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4A5568-8012-52E6-B599-FC93267B4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35660"/>
            <a:ext cx="5538059" cy="413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6AB1-725A-B539-E227-80553512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701040"/>
            <a:ext cx="10019782" cy="602300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Laplacian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02966-6B76-92BA-B8E3-E071CCF033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26EF4D-3658-8A9F-A2CC-0228C4AD9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34" y="1336991"/>
            <a:ext cx="7814931" cy="52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5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20BA-CEA8-7E1F-4059-6A2123CF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660399"/>
            <a:ext cx="9953308" cy="551501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canny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AEDD25-0C37-3569-0E37-3055B789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452880"/>
            <a:ext cx="3752217" cy="5191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D531B7-EEFE-D32F-8693-E08D17F89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463" y="1452880"/>
            <a:ext cx="3630297" cy="51917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46E766-3CD5-C5C6-7108-18C982319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681" y="1452880"/>
            <a:ext cx="3921760" cy="51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5F6C-4A07-3631-E0D4-BF0B08B7C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1280" y="228579"/>
            <a:ext cx="6075680" cy="915062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trang web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CB3C5-CA8F-3ED2-9361-6A2252171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9" y="1143641"/>
            <a:ext cx="5387322" cy="571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3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725" y="876300"/>
            <a:ext cx="5884027" cy="120491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6" y="2586182"/>
            <a:ext cx="5907176" cy="2536826"/>
          </a:xfrm>
        </p:spPr>
        <p:txBody>
          <a:bodyPr>
            <a:noAutofit/>
          </a:bodyPr>
          <a:lstStyle/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grayscale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mịn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gaussian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Laplacian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77A638-2CF5-83BF-2918-C5FDABA5D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38480" y="2346960"/>
            <a:ext cx="4707775" cy="143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7694EB-10FB-F970-CECA-E344B4E8D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554480" y="876300"/>
            <a:ext cx="2611120" cy="4599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60" y="1108710"/>
            <a:ext cx="8041640" cy="87249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04A33C-DC89-4A31-1E01-7E75E2571D89}"/>
              </a:ext>
            </a:extLst>
          </p:cNvPr>
          <p:cNvGraphicFramePr>
            <a:graphicFrameLocks noGrp="1"/>
          </p:cNvGraphicFramePr>
          <p:nvPr>
            <p:ph sz="half" idx="16"/>
            <p:extLst>
              <p:ext uri="{D42A27DB-BD31-4B8C-83A1-F6EECF244321}">
                <p14:modId xmlns:p14="http://schemas.microsoft.com/office/powerpoint/2010/main" val="2326982126"/>
              </p:ext>
            </p:extLst>
          </p:nvPr>
        </p:nvGraphicFramePr>
        <p:xfrm>
          <a:off x="2296160" y="2392514"/>
          <a:ext cx="7731760" cy="3581565"/>
        </p:xfrm>
        <a:graphic>
          <a:graphicData uri="http://schemas.openxmlformats.org/drawingml/2006/table">
            <a:tbl>
              <a:tblPr/>
              <a:tblGrid>
                <a:gridCol w="1910041">
                  <a:extLst>
                    <a:ext uri="{9D8B030D-6E8A-4147-A177-3AD203B41FA5}">
                      <a16:colId xmlns:a16="http://schemas.microsoft.com/office/drawing/2014/main" val="1805005700"/>
                    </a:ext>
                  </a:extLst>
                </a:gridCol>
                <a:gridCol w="1489669">
                  <a:extLst>
                    <a:ext uri="{9D8B030D-6E8A-4147-A177-3AD203B41FA5}">
                      <a16:colId xmlns:a16="http://schemas.microsoft.com/office/drawing/2014/main" val="2264553282"/>
                    </a:ext>
                  </a:extLst>
                </a:gridCol>
                <a:gridCol w="2391477">
                  <a:extLst>
                    <a:ext uri="{9D8B030D-6E8A-4147-A177-3AD203B41FA5}">
                      <a16:colId xmlns:a16="http://schemas.microsoft.com/office/drawing/2014/main" val="690300989"/>
                    </a:ext>
                  </a:extLst>
                </a:gridCol>
                <a:gridCol w="1940573">
                  <a:extLst>
                    <a:ext uri="{9D8B030D-6E8A-4147-A177-3AD203B41FA5}">
                      <a16:colId xmlns:a16="http://schemas.microsoft.com/office/drawing/2014/main" val="3879708674"/>
                    </a:ext>
                  </a:extLst>
                </a:gridCol>
              </a:tblGrid>
              <a:tr h="7606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ID" sz="15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lang="en-ID" sz="1500" b="1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Sobel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Laplacian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Canny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14692"/>
                  </a:ext>
                </a:extLst>
              </a:tr>
              <a:tr h="7606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 Mỏng Biên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Dày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Rất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mỏng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kép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500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 ưu (1 pixel)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338466"/>
                  </a:ext>
                </a:extLst>
              </a:tr>
              <a:tr h="1299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 liên tục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Kém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Rời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rạc</a:t>
                      </a:r>
                      <a:endParaRPr lang="en-ID" sz="1500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nhờ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Hysteresis)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61464"/>
                  </a:ext>
                </a:extLst>
              </a:tr>
              <a:tr h="7606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ID" sz="15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ID" sz="15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chống</a:t>
                      </a:r>
                      <a:r>
                        <a:rPr lang="en-ID" sz="15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Nhiễu</a:t>
                      </a:r>
                      <a:endParaRPr lang="en-ID" sz="1500" b="1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 bình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Kém (rất nhạy)</a:t>
                      </a: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r>
                        <a:rPr lang="en-ID" sz="1500" b="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500" b="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endParaRPr lang="en-ID" sz="1500" b="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244" marR="28244" marT="18829" marB="1882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580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440" y="1109352"/>
            <a:ext cx="5655197" cy="1997867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2440" y="3477337"/>
            <a:ext cx="5733772" cy="448990"/>
          </a:xfrm>
        </p:spPr>
        <p:txBody>
          <a:bodyPr>
            <a:noAutofit/>
          </a:bodyPr>
          <a:lstStyle/>
          <a:p>
            <a:r>
              <a:rPr lang="en-US" dirty="0"/>
              <a:t>Nguyễn Văn Giáp - B22DCCN252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{FFC34374-6B6D-4F88-850A-4F529969BC6A}TF7521aafa-c748-4c40-a498-ba511be234dc5b1b6097_win32-5039330bb2f3</Template>
  <TotalTime>190</TotalTime>
  <Words>290</Words>
  <Application>Microsoft Office PowerPoint</Application>
  <PresentationFormat>Widescreen</PresentationFormat>
  <Paragraphs>79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Tenorite</vt:lpstr>
      <vt:lpstr>Times New Roman</vt:lpstr>
      <vt:lpstr>Wingdings</vt:lpstr>
      <vt:lpstr>Custom</vt:lpstr>
      <vt:lpstr>Xử lý ảnh Đề tài: Phát hiện biên ảnh và ứng dụng </vt:lpstr>
      <vt:lpstr>Mục Tiêu:</vt:lpstr>
      <vt:lpstr>Các thư viện sử dụng:</vt:lpstr>
      <vt:lpstr>Quy trình xử lý ảnh</vt:lpstr>
      <vt:lpstr>PowerPoint Presentation</vt:lpstr>
      <vt:lpstr>Source Code</vt:lpstr>
      <vt:lpstr>Hiển thị giao diện web</vt:lpstr>
      <vt:lpstr>tích chập ảnh với bộ lọc</vt:lpstr>
      <vt:lpstr>Thực hiện làm mờ ảnh</vt:lpstr>
      <vt:lpstr>Phát hiện biên bằng sobel</vt:lpstr>
      <vt:lpstr>Phát hiện biên bằng Laplacian</vt:lpstr>
      <vt:lpstr>Phát hiện biên bằng canny</vt:lpstr>
      <vt:lpstr>Giao diện trang web</vt:lpstr>
      <vt:lpstr>Quy trình Thực hiện</vt:lpstr>
      <vt:lpstr>Bảng so sánh 3 phương pháp</vt:lpstr>
      <vt:lpstr>Cảm ơn tất cả mọi người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Van Giap D22CN12</dc:creator>
  <cp:lastModifiedBy>Nguyen Van Giap D22CN12</cp:lastModifiedBy>
  <cp:revision>4</cp:revision>
  <dcterms:created xsi:type="dcterms:W3CDTF">2025-11-18T17:17:37Z</dcterms:created>
  <dcterms:modified xsi:type="dcterms:W3CDTF">2025-11-25T16:15:57Z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